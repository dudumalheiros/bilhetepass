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ainda.</a:t>
            </a:r>
          </a:p>
          <a:p/>
          <a:p>
            <a:r>
              <a:t>POR QUE E DE ALTA COMPLEXIDADE</a:t>
            </a:r>
          </a:p>
          <a:p>
            <a:r>
              <a:t>Aceitar uma proposta exige VALIDAR que a data ainda está livre — duas propostas podem disputar o mesmo fim de semana — e bloquear uma data exige CONSULTAR se já existe reserva confirmada nela.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ainda.</a:t>
            </a:r>
          </a:p>
          <a:p/>
          <a:p>
            <a:r>
              <a:t>POR QUE E DE ALTA COMPLEXIDADE</a:t>
            </a:r>
          </a:p>
          <a:p>
            <a:r>
              <a:t>A proposta EXPIRA sem resposta em N dias, só é permitida após VALIDAR que o espaço comporta o público estimado, e o valor é CALCULADO como diária × dias mais taxas e caução.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No Resumo: “Capacidade dos lotes (1.950) excede a do local (1.800)”. Na configuração: os lotes Encerrado, Vigente e Agendado e o erro dos 248 vendidos. Nos cupons: Limite atingido e Expirado.</a:t>
            </a:r>
          </a:p>
          <a:p/>
          <a:p>
            <a:r>
              <a:t>POR QUE E DE ALTA COMPLEXIDADE</a:t>
            </a:r>
          </a:p>
          <a:p>
            <a:r>
              <a:t>Publicar exige CALCULAR a soma das capacidades dos lotes e VALIDAR contra a do espaço; criar um lote exige VALIDAR que as vigências não se sobrepõem; desativar um cupom exige VALIDAR quais pedidos em aberto já o aplicaram.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ainda — cabe na tela de configuração de ingressos.</a:t>
            </a:r>
          </a:p>
          <a:p/>
          <a:p>
            <a:r>
              <a:t>POR QUE E DE ALTA COMPLEXIDADE</a:t>
            </a:r>
          </a:p>
          <a:p>
            <a:r>
              <a:t>A cortesia consome uma cota própria do evento, é nominal e intransferível, e não entra no cálculo de receita do repasse.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ainda.</a:t>
            </a:r>
          </a:p>
          <a:p/>
          <a:p>
            <a:r>
              <a:t>POR QUE E DE ALTA COMPLEXIDADE</a:t>
            </a:r>
          </a:p>
          <a:p>
            <a:r>
              <a:t>Agrega vendas, presença e receita do evento. É consulta e agregação, sem validação cruzada — por isso classificamos como média, e não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ainda — um modal na tela de acompanhamento.</a:t>
            </a:r>
          </a:p>
          <a:p/>
          <a:p>
            <a:r>
              <a:t>POR QUE E DE ALTA COMPLEXIDADE</a:t>
            </a:r>
          </a:p>
          <a:p>
            <a:r>
              <a:t>Reembolsa INTEGRALMENTE todos os compradores, ignorando a faixa de 7/2 dias porque a culpa não é deles; DEVOLVE a capacidade ao espaço alugado; e CALCULA a multa do organizador conforme a proximidade do evento.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Os três tipos de ingresso com preço, e o Camarote marcado como Esgotado.</a:t>
            </a:r>
          </a:p>
          <a:p/>
          <a:p>
            <a:r>
              <a:t>POR QUE E DE ALTA COMPLEXIDADE</a:t>
            </a:r>
          </a:p>
          <a:p>
            <a:r>
              <a:t>Busca por cidade e data, favoritos e alerta de lote novo. É consulta com filtros — média, não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O AMIGO10 aplicando −R$ 27,00; o erro “este nome já foi usado em outro ingresso deste pedido”; e o total composto no resumo.</a:t>
            </a:r>
          </a:p>
          <a:p/>
          <a:p>
            <a:r>
              <a:t>POR QUE E DE ALTA COMPLEXIDADE</a:t>
            </a:r>
          </a:p>
          <a:p>
            <a:r>
              <a:t>O preço exige CONSULTAR o lote vigente, a disponibilidade exige CONSULTAR os já vendidos, o desconto exige CALCULAR sobre um cupom VALIDADO em quatro critérios, e a confirmação exige VALIDAR que a reserva não expirou.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A coluna “Cota de meia: 40% do lote — 160 de 400”.</a:t>
            </a:r>
          </a:p>
          <a:p/>
          <a:p>
            <a:r>
              <a:t>POR QUE E DE ALTA COMPLEXIDADE</a:t>
            </a:r>
          </a:p>
          <a:p>
            <a:r>
              <a:t>A cota é CALCULADA como percentual do lote e bloqueia a venda ao ser atingida, exige VALIDAR o comprovante conforme o benefício, e a não comprovação na portaria RECALCULA o ingresso para inteira cobrando a diferença.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ainda.</a:t>
            </a:r>
          </a:p>
          <a:p/>
          <a:p>
            <a:r>
              <a:t>POR QUE E DE ALTA COMPLEXIDADE</a:t>
            </a:r>
          </a:p>
          <a:p>
            <a:r>
              <a:t>A reserva expira por tempo e precisa DEVOLVER o estoque ao lote, e o limite por CPF exige CALCULAR a soma das reservas ativas com as compras já concluídas.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O modal: “reembolso integral de R$ 90,00, pois faltam mais de 7 dias para o evento”.</a:t>
            </a:r>
          </a:p>
          <a:p/>
          <a:p>
            <a:r>
              <a:t>POR QUE E DE ALTA COMPLEXIDADE</a:t>
            </a:r>
          </a:p>
          <a:p>
            <a:r>
              <a:t>O reembolso é CALCULADO por faixas sobre a distância até o evento; a transferência INVALIDA o código antigo e emite outro após VALIDAR que não houve check-in e que o destinatário comprova o mesmo benefício.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Os dois casos de recusa: “ingresso já utilizado às 17:12” e “pagamento não confirmado”.</a:t>
            </a:r>
          </a:p>
          <a:p/>
          <a:p>
            <a:r>
              <a:t>POR QUE E DE ALTA COMPLEXIDADE</a:t>
            </a:r>
          </a:p>
          <a:p>
            <a:r>
              <a:t>Cada leitura precisa VALIDAR três coisas em agregados distintos — o ingresso é deste evento, o pagamento está confirmado, não há check-in anterior — além de CONSULTAR a janela de entrada.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ainda — cabe na tela de check-in.</a:t>
            </a:r>
          </a:p>
          <a:p/>
          <a:p>
            <a:r>
              <a:t>POR QUE E DE ALTA COMPLEXIDADE</a:t>
            </a:r>
          </a:p>
          <a:p>
            <a:r>
              <a:t>Conta os check-ins registrados e bloqueia a entrada ao atingir a capacidade do espaço, mesmo com ingresso válido. É contagem e comparação: média.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ainda.</a:t>
            </a:r>
          </a:p>
          <a:p/>
          <a:p>
            <a:r>
              <a:t>POR QUE E DE ALTA COMPLEXIDADE</a:t>
            </a:r>
          </a:p>
          <a:p>
            <a:r>
              <a:t>Só aceita avaliação de quem tem check-in CONFIRMADO naquele evento, e dentro da janela de N dias após ele — o que cruza avaliação, ingresso e registro de check-in.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QUE MOSTRAR NA TELA</a:t>
            </a:r>
          </a:p>
          <a:p>
            <a:r>
              <a:t>Sem protótipo ainda.</a:t>
            </a:r>
          </a:p>
          <a:p/>
          <a:p>
            <a:r>
              <a:t>POR QUE E DE ALTA COMPLEXIDADE</a:t>
            </a:r>
          </a:p>
          <a:p>
            <a:r>
              <a:t>O repasse é CALCULADO como total vendido menos taxa da plataforma, reembolsos e estornos, liberado apenas N dias após o evento, retido em caso de disputa, e dividido com o dono do espaço alugado.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Inter"/>
              </a:rPr>
              <a:t>BilhetePass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566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A4B1BF"/>
                </a:solidFill>
                <a:latin typeface="Inter"/>
              </a:rPr>
              <a:t>Plataforma de venda de ingressos para eventos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7548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7B8997"/>
                </a:solidFill>
                <a:latin typeface="Inter"/>
              </a:rPr>
              <a:t>Requisitos, Projeto de Software e Validação · CESAR School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7B8997"/>
                </a:solidFill>
                <a:latin typeface="Inter"/>
              </a:rPr>
              <a:t>Lucas Souto · Eduardo Malheiros · Victor Vilela · George Filho · Caio Fonseca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2296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1A1B2E"/>
                </a:solidFill>
                <a:latin typeface="Inter"/>
              </a:rPr>
              <a:t>O domínio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Uma plataforma onde organizadores publicam eventos e vendem ingressos, e participantes compram, recebem o bilhete e entram no dia.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08960"/>
            <a:ext cx="4846320" cy="219456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6B5CF0"/>
                </a:solidFill>
                <a:latin typeface="Inter"/>
              </a:rPr>
              <a:t>O organizador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977639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A5C73"/>
                </a:solidFill>
                <a:latin typeface="Inter"/>
              </a:rPr>
              <a:t>publica o evento, configura tipos e lotes de ingresso com preço e vigência, cria cupons e acompanha as vendas.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108960"/>
            <a:ext cx="4846320" cy="219456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6B5CF0"/>
                </a:solidFill>
                <a:latin typeface="Inter"/>
              </a:rPr>
              <a:t>O participante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977639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A5C73"/>
                </a:solidFill>
                <a:latin typeface="Inter"/>
              </a:rPr>
              <a:t>descobre o evento, escolhe os ingressos, identifica quem vai usar cada um, paga, recebe o bilhete e entra.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315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Marina,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5CF0"/>
                </a:solidFill>
                <a:latin typeface="Inter"/>
              </a:rPr>
              <a:t>ANALISTA DE MARKETING · A COMPRADORA DO GRUPO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5A5C73"/>
                </a:solidFill>
                <a:latin typeface="Inter"/>
              </a:rPr>
              <a:t>É sempre ela quem organiza e compra os ingressos da turma. Compra pelo celular, quando vê que o lote vai virar.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971800"/>
            <a:ext cx="4846320" cy="2286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2971800"/>
            <a:ext cx="4846320" cy="2286000"/>
          </a:xfrm>
          <a:prstGeom prst="rect">
            <a:avLst/>
          </a:prstGeom>
          <a:solidFill>
            <a:srgbClr val="EFE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OBJETIVOS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Comprar vários ingressos de uma vez, cada um no nome certo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Garantir a meia-entrada do irmão estudante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Pagar antes de o preço subir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5CF0"/>
                </a:solidFill>
                <a:latin typeface="Inter"/>
              </a:rPr>
              <a:t>O QUE O SISTEMA RESOLVE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Identificação por ingresso, com aviso de nome repetido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Preço do lote vigente aplicado automaticamente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Cancelamento com reembolso proporcional e transferência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A5C73"/>
                </a:solidFill>
                <a:latin typeface="Inter"/>
              </a:rPr>
              <a:t>“Eu compro, mas quem entra são eles. Se der ruim na portaria, a culpa é minha.”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315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Ricardo, 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08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6B5CF0"/>
                </a:solidFill>
                <a:latin typeface="Inter"/>
              </a:rPr>
              <a:t>PRODUTOR DE EVENTOS · O ORGANIZADOR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5A5C73"/>
                </a:solidFill>
                <a:latin typeface="Inter"/>
              </a:rPr>
              <a:t>Produz de 6 a 10 eventos por ano. Hoje controla lote e cortesia em planilha, e descobre erro de capacidade quando a portaria reclama.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971800"/>
            <a:ext cx="4846320" cy="228600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2971800"/>
            <a:ext cx="4846320" cy="2286000"/>
          </a:xfrm>
          <a:prstGeom prst="rect">
            <a:avLst/>
          </a:prstGeom>
          <a:solidFill>
            <a:srgbClr val="EFE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A5C73"/>
                </a:solidFill>
                <a:latin typeface="Inter"/>
              </a:rPr>
              <a:t>OBJETIVOS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Vender barato no começo e subir o preço conforme lota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Fazer campanha sem baixar o preço de tabela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Saber quantos entraram,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246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5CF0"/>
                </a:solidFill>
                <a:latin typeface="Inter"/>
              </a:rPr>
              <a:t>O QUE O SISTEMA RESOLVE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70332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Lotes com preço, quantidade e vigência, com bloqueio automático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Cupom com validade, limite de usos e restrição por tipo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Capacidade não pode cair abaixo do que já foi vendido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A5C73"/>
                </a:solidFill>
                <a:latin typeface="Inter"/>
              </a:rPr>
              <a:t>“Se eu errar a conta do lote, eu vendo ingresso que não existe.”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Oferta de espaços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Aceitar proposta valida que a data segue livre; bloquear data consulta as reservas confirmadas.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Locação de espaço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proposta expira, valida a capacidade contra o público estimado e calcula diária × dias + taxas.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Publicação e configuração do evento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pic>
        <p:nvPicPr>
          <p:cNvPr id="6" name="Picture 5" descr="criacao-de-ev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56053"/>
            <a:ext cx="3566160" cy="2991612"/>
          </a:xfrm>
          <a:prstGeom prst="rect">
            <a:avLst/>
          </a:prstGeom>
        </p:spPr>
      </p:pic>
      <p:pic>
        <p:nvPicPr>
          <p:cNvPr id="7" name="Picture 6" descr="configuracao-de-ingress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370361"/>
            <a:ext cx="3566160" cy="4162996"/>
          </a:xfrm>
          <a:prstGeom prst="rect">
            <a:avLst/>
          </a:prstGeom>
        </p:spPr>
      </p:pic>
      <p:pic>
        <p:nvPicPr>
          <p:cNvPr id="8" name="Picture 7" descr="gerenciar-cup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982057"/>
            <a:ext cx="3566160" cy="29396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Soma os lotes e valida contra o espaço; valida vigências sobrepostas; preserva o cupom nos pedidos abertos.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Cortesias e convidados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Média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Cota própria, nominal e intransferível, e fora do cálculo de receita.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Relatórios do organizador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Média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Agrega vendas, presença e receita. Consulta e agregação, sem validação cruzada: média.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Cancelamento do evento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Reembolso integral a todos, devolve a capacidade ao espaço e calcula a multa do organizador.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Descoberta de eventos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Média</a:t>
            </a:r>
          </a:p>
        </p:txBody>
      </p:sp>
      <p:pic>
        <p:nvPicPr>
          <p:cNvPr id="6" name="Picture 5" descr="detalhe-do-ev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511" y="1005840"/>
            <a:ext cx="4041616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Busca por cidade e data, favoritos e alerta de novo lote. Consulta com filtros: média.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Compra de ingressos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pic>
        <p:nvPicPr>
          <p:cNvPr id="6" name="Picture 5" descr="selecao-de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329"/>
            <a:ext cx="3566160" cy="3155061"/>
          </a:xfrm>
          <a:prstGeom prst="rect">
            <a:avLst/>
          </a:prstGeom>
        </p:spPr>
      </p:pic>
      <p:pic>
        <p:nvPicPr>
          <p:cNvPr id="7" name="Picture 6" descr="identificacao-de-participa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2183892"/>
            <a:ext cx="3566160" cy="2535936"/>
          </a:xfrm>
          <a:prstGeom prst="rect">
            <a:avLst/>
          </a:prstGeom>
        </p:spPr>
      </p:pic>
      <p:pic>
        <p:nvPicPr>
          <p:cNvPr id="8" name="Picture 7" descr="checkout-pagament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183892"/>
            <a:ext cx="3566160" cy="25359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Consulta o lote vigente e os vendidos, calcula o cupom sobre quatro critérios e valida a reserva.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Meia-entrada: benefício e cota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pic>
        <p:nvPicPr>
          <p:cNvPr id="6" name="Picture 5" descr="configuracao-de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3978" y="1005840"/>
            <a:ext cx="4190682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cota é percentual do lote; sem comprovação na portaria, o ingresso é recalculado para inteira.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Fila de espera e reserva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A reserva expira devolvendo estoque; o limite por CPF soma reservas ativas e compras concluídas.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Gestão do meu ingresso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pic>
        <p:nvPicPr>
          <p:cNvPr id="6" name="Picture 5" descr="meus-ingres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4346" y="1005840"/>
            <a:ext cx="5969947" cy="4892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Reembolso por faixas de data; transferência invalida o código e valida check-in e benefício.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Check-in de participantes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pic>
        <p:nvPicPr>
          <p:cNvPr id="6" name="Picture 5" descr="checkin-particip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89" y="1005840"/>
            <a:ext cx="5299301" cy="4892039"/>
          </a:xfrm>
          <a:prstGeom prst="rect">
            <a:avLst/>
          </a:prstGeom>
        </p:spPr>
      </p:pic>
      <p:pic>
        <p:nvPicPr>
          <p:cNvPr id="7" name="Picture 6" descr="checkin-estados-er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517396"/>
            <a:ext cx="5440679" cy="38689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Valida ingresso, pagamento e histórico em agregados distintos, mais a janela de entrada.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Lotação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Média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Conta os check-ins e bloqueia ao atingir a capacidade do espaço. Contagem e comparação: média.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Avaliações pós-evento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Só avalia quem tem check-in confirmado, dentro da janela após o evento.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6B5CF0"/>
                </a:solidFill>
                <a:latin typeface="Inter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Inter"/>
              </a:rPr>
              <a:t>Repasse financeiro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74320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>
                <a:solidFill>
                  <a:srgbClr val="7B8997"/>
                </a:solidFill>
                <a:latin typeface="Inter"/>
              </a:rPr>
              <a:t>Alta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737360"/>
            <a:ext cx="5760720" cy="3383280"/>
          </a:xfrm>
          <a:prstGeom prst="rect">
            <a:avLst/>
          </a:prstGeom>
          <a:solidFill>
            <a:srgbClr val="F7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3108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Sem protótipo</a:t>
            </a:r>
          </a:p>
          <a:p>
            <a:pPr algn="ctr">
              <a:spcAft>
                <a:spcPts val="600"/>
              </a:spcAft>
            </a:pPr>
            <a:r>
              <a:rPr sz="1900" b="1">
                <a:solidFill>
                  <a:srgbClr val="9E520A"/>
                </a:solidFill>
                <a:latin typeface="Inter"/>
              </a:rPr>
              <a:t>Release 2 — está mapeada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035040"/>
            <a:ext cx="11247120" cy="658368"/>
          </a:xfrm>
          <a:prstGeom prst="rect">
            <a:avLst/>
          </a:prstGeom>
          <a:solidFill>
            <a:srgbClr val="E2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035040"/>
            <a:ext cx="54864" cy="658368"/>
          </a:xfrm>
          <a:prstGeom prst="rect">
            <a:avLst/>
          </a:prstGeom>
          <a:solidFill>
            <a:srgbClr val="0B6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61447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1A1B2E"/>
                </a:solidFill>
                <a:latin typeface="Inter"/>
              </a:rPr>
              <a:t>Vendido − taxa − reembolsos − estornos, liberado após o evento e dividido com o dono do espaço.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A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Inter"/>
              </a:rPr>
              <a:t>Mapa da história do usuário</a:t>
            </a:r>
          </a:p>
        </p:txBody>
      </p:sp>
      <p:pic>
        <p:nvPicPr>
          <p:cNvPr id="4" name="Picture 3" descr="mapa-histor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3044" y="1463040"/>
            <a:ext cx="523543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8064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A5C73"/>
                </a:solidFill>
                <a:latin typeface="Inter"/>
              </a:rPr>
              <a:t>3 atividades · 11 tarefas · 33 histórias.  A linha marca o corte da Release 1: acima dela dá para publicar um evento, comprar um ingresso e entrar.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B5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144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A1B2E"/>
                </a:solidFill>
                <a:latin typeface="Inter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241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Modelar os subdomínios e o context map no nível estratégico do DDD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Detalhar os agregados de cada bounded context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Escrever os cenários BDD a partir das regras de negócio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5A5C73"/>
                </a:solidFill>
                <a:latin typeface="Inter"/>
              </a:rPr>
              <a:t>Implementar em Java com Spring Boot e JPA, em arquitetura limpa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5CF0"/>
                </a:solidFill>
                <a:latin typeface="Inter"/>
              </a:rPr>
              <a:t>github.com/dudumalheiros/BilhetePass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