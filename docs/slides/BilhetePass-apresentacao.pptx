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No Resumo: “Capacidade dos lotes (1.950) excede a do local (1.800)” e o botão Publicar desabilitado.</a:t>
            </a:r>
          </a:p>
          <a:p/>
          <a:p>
            <a:r>
              <a:t>POR QUE E DE ALTA COMPLEXIDADE</a:t>
            </a:r>
          </a:p>
          <a:p>
            <a:r>
              <a:t>Publicar exige CALCULAR a soma das capacidades de todos os lotes do evento e VALIDAR esse total contra a capacidade do local escolhido.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Os três lotes com situações diferentes — Encerrado, Vigente, Agendado — e o erro “não pode ser menor que os 248 ingressos já vendidos”.</a:t>
            </a:r>
          </a:p>
          <a:p/>
          <a:p>
            <a:r>
              <a:t>POR QUE E DE ALTA COMPLEXIDADE</a:t>
            </a:r>
          </a:p>
          <a:p>
            <a:r>
              <a:t>Criar um lote exige VALIDAR que sua vigência não se sobrepõe à dos outros lotes do mesmo tipo, e CONSULTAR a quantidade já vendida antes de permitir reduzir a capacidade.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Os quatro estados: Ativo, Limite atingido (150 de 150), Expirado, e o erro “Já existe um cupom com este código”.</a:t>
            </a:r>
          </a:p>
          <a:p/>
          <a:p>
            <a:r>
              <a:t>POR QUE E DE ALTA COMPLEXIDADE</a:t>
            </a:r>
          </a:p>
          <a:p>
            <a:r>
              <a:t>O sistema CONSULTA se já existe cupom ativo com o mesmo código antes de salvar, e ao desativar precisa VALIDAR quais pedidos em aberto já o aplicaram — esses mantêm o desconto, os novos não.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Os três tipos de ingresso com preço, e o Camarote Open Bar marcado como Esgotado.</a:t>
            </a:r>
          </a:p>
          <a:p/>
          <a:p>
            <a:r>
              <a:t>POR QUE E DE ALTA COMPLEXIDADE</a:t>
            </a:r>
          </a:p>
          <a:p>
            <a:r>
              <a:t>É a porta de entrada da compra: o preço exibido vem do lote vigente na data, e a disponibilidade vem da contagem de quantos já foram vendidos naquele lote.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 cupom AMIGO10 aplicando −R$ 27,00 e o Camarote como Esgotado. Na tela seguinte, o erro “este nome já foi usado em outro ingresso deste pedido”.</a:t>
            </a:r>
          </a:p>
          <a:p/>
          <a:p>
            <a:r>
              <a:t>POR QUE E DE ALTA COMPLEXIDADE</a:t>
            </a:r>
          </a:p>
          <a:p>
            <a:r>
              <a:t>O preço exige CONSULTAR o lote vigente na data, a disponibilidade exige CONSULTAR quantos já foram vendidos, e o desconto exige CALCULAR sobre um cupom VALIDADO quanto a tipo, validade, limite de usos e aplicabilidade.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 erro em vermelho: “este nome já foi usado em outro ingresso deste pedido”.</a:t>
            </a:r>
          </a:p>
          <a:p/>
          <a:p>
            <a:r>
              <a:t>POR QUE E DE ALTA COMPLEXIDADE</a:t>
            </a:r>
          </a:p>
          <a:p>
            <a:r>
              <a:t>Cada ingresso é nominal: antes de confirmar, o sistema precisa VALIDAR que o mesmo participante não foi vinculado a dois ingressos do mesmo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A cota “40% do lote — 160 de 400”. Na tela de seleção, a linha “Meia-Entrada / Solidária — R$ 90,00”.</a:t>
            </a:r>
          </a:p>
          <a:p/>
          <a:p>
            <a:r>
              <a:t>POR QUE E DE ALTA COMPLEXIDADE</a:t>
            </a:r>
          </a:p>
          <a:p>
            <a:r>
              <a:t>A venda da meia é bloqueada por uma cota CALCULADA como percentual do lote, exige VALIDAR o comprovante conforme o benefício declarado, e a não comprovação na portaria RECALCULA o ingresso para inteira cobrando a diferença.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Sem protótipo — aponte no mapa, coluna “Escolher ingressos”, card H13. Release 2.</a:t>
            </a:r>
          </a:p>
          <a:p/>
          <a:p>
            <a:r>
              <a:t>POR QUE E DE ALTA COMPLEXIDADE</a:t>
            </a:r>
          </a:p>
          <a:p>
            <a:r>
              <a:t>A reserva expira por tempo e precisa DEVOLVER o estoque ao lote automaticamente, e o limite por CPF exige CALCULAR a soma das reservas ativas com as compras já concluídas no mesmo evento.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 resumo da compra com a composição do total: subtotal R$ 270,00 − desconto R$ 27,00 + taxa = R$ 243,00.</a:t>
            </a:r>
          </a:p>
          <a:p/>
          <a:p>
            <a:r>
              <a:t>POR QUE E DE ALTA COMPLEXIDADE</a:t>
            </a:r>
          </a:p>
          <a:p>
            <a:r>
              <a:t>O total é CALCULADO como subtotal menos desconto mais taxa, e a confirmação só é permitida após VALIDAR que a reserva do pedido ainda não expirou — cruzando pedido, lote e pagamento.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A confirmação da compra, fechando o fluxo e liberando a emissão dos ingressos.</a:t>
            </a:r>
          </a:p>
          <a:p/>
          <a:p>
            <a:r>
              <a:t>POR QUE E DE ALTA COMPLEXIDADE</a:t>
            </a:r>
          </a:p>
          <a:p>
            <a:r>
              <a:t>Com o pagamento confirmado, o sistema dispara a emissão dos ingressos e a baixa definitiva do estoque no lote — é o evento que conecta Vendas a Controle de Acesso.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A lista de ingressos com o participante nomeado em cada um.</a:t>
            </a:r>
          </a:p>
          <a:p/>
          <a:p>
            <a:r>
              <a:t>POR QUE E DE ALTA COMPLEXIDADE</a:t>
            </a:r>
          </a:p>
          <a:p>
            <a:r>
              <a:t>Cada ingresso recebe um código único verificável, e a reemissão precisa INVALIDAR o código anterior sem perder o vínculo com o participante — além de VALIDAR que o ingresso ainda não teve check-in.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Sem protótipo — aponte no mapa, coluna “Transferir ou cancelar”, card H16. Release 2.</a:t>
            </a:r>
          </a:p>
          <a:p/>
          <a:p>
            <a:r>
              <a:t>POR QUE E DE ALTA COMPLEXIDADE</a:t>
            </a:r>
          </a:p>
          <a:p>
            <a:r>
              <a:t>A transferência INVALIDA o QR antigo e emite outro, só é permitida após VALIDAR que não houve check-in e que o destinatário não tem outro ingresso do mesmo lote, e a meia-entrada exige VALIDAR o mesmo benefício.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A frase do modal, que é a regra escrita na interface: “reembolso integral de R$ 90,00, pois faltam mais de 7 dias para o evento”.</a:t>
            </a:r>
          </a:p>
          <a:p/>
          <a:p>
            <a:r>
              <a:t>POR QUE E DE ALTA COMPLEXIDADE</a:t>
            </a:r>
          </a:p>
          <a:p>
            <a:r>
              <a:t>O valor é CALCULADO por faixas sobre a diferença entre a data do cancelamento e a do evento — integral acima de 7 dias, metade entre 7 e 2, nenhum abaixo — exigindo CONSULTAR dois agregados.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 card verde de entrada liberada, com o participante, o ingresso e o horário do registro.</a:t>
            </a:r>
          </a:p>
          <a:p/>
          <a:p>
            <a:r>
              <a:t>POR QUE E DE ALTA COMPLEXIDADE</a:t>
            </a:r>
          </a:p>
          <a:p>
            <a:r>
              <a:t>Toda leitura aprovada grava data, hora e operador responsável — o registro de auditoria, que é a regra de complexidade baixa dentro desta funcionalidade.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QUE MOSTRAR NA TELA</a:t>
            </a:r>
          </a:p>
          <a:p>
            <a:r>
              <a:t>Os dois casos de recusa: “ingresso já utilizado às 17:12” e “pagamento não confirmado”.</a:t>
            </a:r>
          </a:p>
          <a:p/>
          <a:p>
            <a:r>
              <a:t>POR QUE E DE ALTA COMPLEXIDADE</a:t>
            </a:r>
          </a:p>
          <a:p>
            <a:r>
              <a:t>Cada leitura precisa VALIDAR três coisas em agregados distintos — ingresso pertence ao evento, pagamento confirmado, sem check-in anterior — além de CONSULTAR se o horário está dentro da janela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6B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8600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Inter"/>
              </a:rPr>
              <a:t>BilhetePass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566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0">
                <a:solidFill>
                  <a:srgbClr val="A4B1BF"/>
                </a:solidFill>
                <a:latin typeface="Inter"/>
              </a:rPr>
              <a:t>Plataforma de venda de ingressos para eventos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7548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B8997"/>
                </a:solidFill>
                <a:latin typeface="Inter"/>
              </a:rPr>
              <a:t>Requisitos, Projeto de Software e Validação · CESAR School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7B8997"/>
                </a:solidFill>
                <a:latin typeface="Inter"/>
              </a:rPr>
              <a:t>Lucas Souto · Eduardo Malheiros · Victor Vilela · George Filho · Caio Fonseca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82296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1A1B2E"/>
                </a:solidFill>
                <a:latin typeface="Inter"/>
              </a:rPr>
              <a:t>O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5A5C73"/>
                </a:solidFill>
                <a:latin typeface="Inter"/>
              </a:rPr>
              <a:t>Uma plataforma onde organizadores publicam eventos e vendem ingressos, e participantes compram, recebem o bilhete e entram no dia.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108960"/>
            <a:ext cx="4846320" cy="21945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B5CF0"/>
                </a:solidFill>
                <a:latin typeface="Inter"/>
              </a:rPr>
              <a:t>O organizador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977639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5C73"/>
                </a:solidFill>
                <a:latin typeface="Inter"/>
              </a:rPr>
              <a:t>publica o evento, configura tipos e lotes de ingresso com preço e vigência, cria cupons e acompanha as vendas.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3108960"/>
            <a:ext cx="4846320" cy="219456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4290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6B5CF0"/>
                </a:solidFill>
                <a:latin typeface="Inter"/>
              </a:rPr>
              <a:t>O participante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977639"/>
            <a:ext cx="4114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A5C73"/>
                </a:solidFill>
                <a:latin typeface="Inter"/>
              </a:rPr>
              <a:t>descobre o evento, escolhe os ingressos, identifica quem vai usar cada um, paga, recebe o bilhete e entra.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B2E"/>
                </a:solidFill>
                <a:latin typeface="Inter"/>
              </a:rPr>
              <a:t>Marina, 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CF0"/>
                </a:solidFill>
                <a:latin typeface="Inter"/>
              </a:rPr>
              <a:t>ANALISTA DE MARKETING · A COMPRADORA DO GRUPO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C73"/>
                </a:solidFill>
                <a:latin typeface="Inter"/>
              </a:rPr>
              <a:t>É sempre ela quem organiza e compra os ingressos da turma. Compra pelo celular, quando vê que o lote vai virar.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71800"/>
            <a:ext cx="4846320" cy="2286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2971800"/>
            <a:ext cx="4846320" cy="2286000"/>
          </a:xfrm>
          <a:prstGeom prst="rect">
            <a:avLst/>
          </a:prstGeom>
          <a:solidFill>
            <a:srgbClr val="EF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C73"/>
                </a:solidFill>
                <a:latin typeface="Inter"/>
              </a:rPr>
              <a:t>OBJETIVOS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Comprar vários ingressos de uma vez, cada um no nome certo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Garantir a meia-entrada do irmão estudante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Pagar antes de o preço subir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46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CF0"/>
                </a:solidFill>
                <a:latin typeface="Inter"/>
              </a:rPr>
              <a:t>O QUE O SISTEMA 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70332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Identificação por ingresso, com aviso de nome repetido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Preço do lote vigente aplicado automaticamente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Cancelamento com reembolso proporcional e transferência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5C73"/>
                </a:solidFill>
                <a:latin typeface="Inter"/>
              </a:rPr>
              <a:t>“Eu compro, mas quem entra são eles. Se der ruim na portaria, a culpa é minha.”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73152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B2E"/>
                </a:solidFill>
                <a:latin typeface="Inter"/>
              </a:rPr>
              <a:t>Ricardo, 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CF0"/>
                </a:solidFill>
                <a:latin typeface="Inter"/>
              </a:rPr>
              <a:t>PRODUTOR DE EVENTOS · O ORGANIZADOR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4884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A5C73"/>
                </a:solidFill>
                <a:latin typeface="Inter"/>
              </a:rPr>
              <a:t>Produz de 6 a 10 eventos por ano. Hoje controla lote e cortesia em planilha, e descobre erro de capacidade quando a portaria reclama.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2971800"/>
            <a:ext cx="4846320" cy="228600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09360" y="2971800"/>
            <a:ext cx="4846320" cy="2286000"/>
          </a:xfrm>
          <a:prstGeom prst="rect">
            <a:avLst/>
          </a:prstGeom>
          <a:solidFill>
            <a:srgbClr val="EF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A5C73"/>
                </a:solidFill>
                <a:latin typeface="Inter"/>
              </a:rPr>
              <a:t>OBJETIVOS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Vender barato no começo e subir o preço conforme lota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Fazer campanha sem baixar o preço de tabela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Saber quantos entraram, em tempo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24612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CF0"/>
                </a:solidFill>
                <a:latin typeface="Inter"/>
              </a:rPr>
              <a:t>O QUE O SISTEMA RESOLVE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703320"/>
            <a:ext cx="420624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Lotes com preço, quantidade e vigência, com bloqueio automático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Cupom com validade, limite de usos e restrição por tipo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Capacidade não pode cair abaixo do que já foi vendido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778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A5C73"/>
                </a:solidFill>
                <a:latin typeface="Inter"/>
              </a:rPr>
              <a:t>“Se eu errar a conta do lote, eu vendo ingresso que não existe.”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Publicação do evento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VV</a:t>
            </a:r>
          </a:p>
        </p:txBody>
      </p:sp>
      <p:pic>
        <p:nvPicPr>
          <p:cNvPr id="6" name="Picture 5" descr="criacao-de-ev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4974" y="1005840"/>
            <a:ext cx="5831570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Publicar exige somar a capacidade de todos os lotes e validar contra a capacidade do local.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Configuração dos ingressos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VV</a:t>
            </a:r>
          </a:p>
        </p:txBody>
      </p:sp>
      <p:pic>
        <p:nvPicPr>
          <p:cNvPr id="6" name="Picture 5" descr="configuracao-de-ingres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418" y="1005840"/>
            <a:ext cx="4190682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Valida que as vigências dos lotes não se sobrepõem e consulta os já vendidos antes de reduzir a capacidade.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Gestão de cupons de desconto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VV</a:t>
            </a:r>
          </a:p>
        </p:txBody>
      </p:sp>
      <p:pic>
        <p:nvPicPr>
          <p:cNvPr id="6" name="Picture 5" descr="gerenciar-c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3389" y="1005840"/>
            <a:ext cx="5934741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Valida código único entre cupons ativos e, ao desativar, distingue os pedidos em aberto dos novos.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Venda de ingressos — a página do evento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LS</a:t>
            </a:r>
          </a:p>
        </p:txBody>
      </p:sp>
      <p:pic>
        <p:nvPicPr>
          <p:cNvPr id="6" name="Picture 5" descr="detalhe-do-ev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51" y="1005840"/>
            <a:ext cx="4041616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O preço exibido vem do lote vigente na data; o Esgotado vem da contagem de vendidos.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Venda de ingressos — seleção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LS</a:t>
            </a:r>
          </a:p>
        </p:txBody>
      </p:sp>
      <p:pic>
        <p:nvPicPr>
          <p:cNvPr id="6" name="Picture 5" descr="selecao-de-ingres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6027" y="1005840"/>
            <a:ext cx="5529464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Consulta o lote vigente e os já vendidos, e calcula o desconto sobre um cupom validado em quatro critérios.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Venda de ingressos — identificação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LS</a:t>
            </a:r>
          </a:p>
        </p:txBody>
      </p:sp>
      <p:pic>
        <p:nvPicPr>
          <p:cNvPr id="6" name="Picture 5" descr="identificacao-de-particip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44" y="1005840"/>
            <a:ext cx="6879431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Cada ingresso é nominal, e o sistema valida que o mesmo participante não se repete no pedido.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Meia-entrada: benefício e cota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EM</a:t>
            </a:r>
          </a:p>
        </p:txBody>
      </p:sp>
      <p:pic>
        <p:nvPicPr>
          <p:cNvPr id="6" name="Picture 5" descr="configuracao-de-ingres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5418" y="1005840"/>
            <a:ext cx="4190682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A cota de meia é calculada como percentual do lote; sem comprovação, o ingresso é recalculado para inteira.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Fila de espera e reserva temporária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CF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737360"/>
            <a:ext cx="5760720" cy="338328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1089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9E520A"/>
                </a:solidFill>
                <a:latin typeface="Inter"/>
              </a:rPr>
              <a:t>Sem protótipo</a:t>
            </a:r>
          </a:p>
          <a:p>
            <a:pPr algn="ctr">
              <a:spcAft>
                <a:spcPts val="600"/>
              </a:spcAft>
            </a:pPr>
            <a:r>
              <a:rPr sz="1900" b="1">
                <a:solidFill>
                  <a:srgbClr val="9E520A"/>
                </a:solidFill>
                <a:latin typeface="Inter"/>
              </a:rPr>
              <a:t>Release 2 — está mapeada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A reserva expira devolvendo estoque, e o limite por CPF soma reservas ativas com compras concluídas.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Pagamento do pedido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GF</a:t>
            </a:r>
          </a:p>
        </p:txBody>
      </p:sp>
      <p:pic>
        <p:nvPicPr>
          <p:cNvPr id="6" name="Picture 5" descr="checkout-pag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44" y="1005840"/>
            <a:ext cx="6879431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Calcula subtotal − desconto + taxa, e só confirma após validar que a reserva não expirou.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Pagamento — confirmação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GF</a:t>
            </a:r>
          </a:p>
        </p:txBody>
      </p:sp>
      <p:pic>
        <p:nvPicPr>
          <p:cNvPr id="6" name="Picture 5" descr="confirmacao-comp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44" y="1005840"/>
            <a:ext cx="6879431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Confirmado o pagamento, o sistema emite os ingressos e dá baixa definitiva no lote.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Emissão e entrega do ingresso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CF</a:t>
            </a:r>
          </a:p>
        </p:txBody>
      </p:sp>
      <p:pic>
        <p:nvPicPr>
          <p:cNvPr id="6" name="Picture 5" descr="meus-ingres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786" y="1005840"/>
            <a:ext cx="5969947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A reemissão invalida o código anterior preservando o vínculo, e valida que não houve check-in.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Transferência nominal de ingresso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737360"/>
            <a:ext cx="5760720" cy="3383280"/>
          </a:xfrm>
          <a:prstGeom prst="rect">
            <a:avLst/>
          </a:prstGeom>
          <a:solidFill>
            <a:srgbClr val="F7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108960"/>
            <a:ext cx="5029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>
                <a:solidFill>
                  <a:srgbClr val="9E520A"/>
                </a:solidFill>
                <a:latin typeface="Inter"/>
              </a:rPr>
              <a:t>Sem protótipo</a:t>
            </a:r>
          </a:p>
          <a:p>
            <a:pPr algn="ctr">
              <a:spcAft>
                <a:spcPts val="600"/>
              </a:spcAft>
            </a:pPr>
            <a:r>
              <a:rPr sz="1900" b="1">
                <a:solidFill>
                  <a:srgbClr val="9E520A"/>
                </a:solidFill>
                <a:latin typeface="Inter"/>
              </a:rPr>
              <a:t>Release 2 — está mapeada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Invalida o QR antigo, emite outro, e valida check-in, lote do destinatário e benefício equivalente.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Cancelamento e reembolso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GF</a:t>
            </a:r>
          </a:p>
        </p:txBody>
      </p:sp>
      <p:pic>
        <p:nvPicPr>
          <p:cNvPr id="6" name="Picture 5" descr="meus-ingress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786" y="1005840"/>
            <a:ext cx="5969947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Calcula o reembolso por faixas sobre a distância até a data do evento, consultando dois agregados.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Check-in — leitura aprovada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LS</a:t>
            </a:r>
          </a:p>
        </p:txBody>
      </p:sp>
      <p:pic>
        <p:nvPicPr>
          <p:cNvPr id="6" name="Picture 5" descr="checkin-participa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109" y="1005840"/>
            <a:ext cx="5299301" cy="4892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A leitura aprovada grava data, hora e operador: o registro de auditoria do check-in.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6B5CF0"/>
                </a:solidFill>
                <a:latin typeface="Inter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"/>
            <a:ext cx="8595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Inter"/>
              </a:rPr>
              <a:t>Check-in — casos de recusa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424160" y="2743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500" b="1">
                <a:solidFill>
                  <a:srgbClr val="7B8997"/>
                </a:solidFill>
                <a:latin typeface="Inter"/>
              </a:rPr>
              <a:t>LS</a:t>
            </a:r>
          </a:p>
        </p:txBody>
      </p:sp>
      <p:pic>
        <p:nvPicPr>
          <p:cNvPr id="6" name="Picture 5" descr="checkin-estados-er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44" y="1005840"/>
            <a:ext cx="6879431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6035040"/>
            <a:ext cx="11247120" cy="658368"/>
          </a:xfrm>
          <a:prstGeom prst="rect">
            <a:avLst/>
          </a:prstGeom>
          <a:solidFill>
            <a:srgbClr val="E2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6035040"/>
            <a:ext cx="54864" cy="658368"/>
          </a:xfrm>
          <a:prstGeom prst="rect">
            <a:avLst/>
          </a:prstGeom>
          <a:solidFill>
            <a:srgbClr val="0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14476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A1B2E"/>
                </a:solidFill>
                <a:latin typeface="Inter"/>
              </a:rPr>
              <a:t>Valida ingresso, pagamento e histórico de check-in em agregados distintos, além da janela de entrada.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Inter"/>
              </a:rPr>
              <a:t>Mapa da história do usuário</a:t>
            </a:r>
          </a:p>
        </p:txBody>
      </p:sp>
      <p:pic>
        <p:nvPicPr>
          <p:cNvPr id="4" name="Picture 3" descr="mapa-histor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044" y="1463040"/>
            <a:ext cx="5235431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806440"/>
            <a:ext cx="107899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A5C73"/>
                </a:solidFill>
                <a:latin typeface="Inter"/>
              </a:rPr>
              <a:t>3 atividades · 11 tarefas · 33 histórias.  A linha marca o corte da Release 1: acima dela dá para publicar um evento, comprar um ingresso e entrar.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B5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91440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A1B2E"/>
                </a:solidFill>
                <a:latin typeface="Inter"/>
              </a:rPr>
              <a:t>Próximos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103120"/>
            <a:ext cx="102412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600"/>
              </a:spcAft>
            </a:pPr>
            <a:r>
              <a:rPr sz="2000" b="0">
                <a:solidFill>
                  <a:srgbClr val="5A5C73"/>
                </a:solidFill>
                <a:latin typeface="Inter"/>
              </a:rPr>
              <a:t>Modelar os subdomínios e o context map no nível estratégico do DDD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5A5C73"/>
                </a:solidFill>
                <a:latin typeface="Inter"/>
              </a:rPr>
              <a:t>Detalhar os agregados de cada bounded context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5A5C73"/>
                </a:solidFill>
                <a:latin typeface="Inter"/>
              </a:rPr>
              <a:t>Escrever os cenários BDD a partir das regras de negócio</a:t>
            </a:r>
          </a:p>
          <a:p>
            <a:pPr algn="l">
              <a:spcAft>
                <a:spcPts val="1600"/>
              </a:spcAft>
            </a:pPr>
            <a:r>
              <a:rPr sz="2000" b="0">
                <a:solidFill>
                  <a:srgbClr val="5A5C73"/>
                </a:solidFill>
                <a:latin typeface="Inter"/>
              </a:rPr>
              <a:t>Implementar em Java com Spring Boot e JPA, em arquitetura limpa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B5CF0"/>
                </a:solidFill>
                <a:latin typeface="Inter"/>
              </a:rPr>
              <a:t>github.com/dudumalheiros/BilhetePass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